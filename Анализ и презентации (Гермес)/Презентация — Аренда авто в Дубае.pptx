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>
                <a:solidFill>
                  <a:srgbClr val="0F2A43"/>
                </a:solidFill>
                <a:latin typeface="Calibri"/>
              </a:rPr>
              <a:t>Относительный спрос по сезонам (зима = 100)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Индекс спроса</c:v>
                </c:pt>
              </c:strCache>
            </c:strRef>
          </c:tx>
          <c:spPr>
            <a:solidFill>
              <a:srgbClr val="C9A227"/>
            </a:solidFill>
          </c:spPr>
          <c:cat>
            <c:strRef>
              <c:f>Sheet1!$A$2:$A$4</c:f>
              <c:strCache>
                <c:ptCount val="3"/>
                <c:pt idx="0">
                  <c:v>Лето (июн–сен)</c:v>
                </c:pt>
                <c:pt idx="1">
                  <c:v>Плечевой (окт, апр–май)</c:v>
                </c:pt>
                <c:pt idx="2">
                  <c:v>Зима (ноя–фев)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35</c:v>
                </c:pt>
                <c:pt idx="1">
                  <c:v>68</c:v>
                </c:pt>
                <c:pt idx="2">
                  <c:v>100</c:v>
                </c:pt>
              </c:numCache>
            </c:numRef>
          </c:val>
        </c:ser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E4CE8A"/>
                </a:solidFill>
                <a:latin typeface="Calibri"/>
              </a:rPr>
              <a:t>АНАЛИЗ РЫНКА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800" b="1" i="0">
                <a:solidFill>
                  <a:srgbClr val="FFFFFF"/>
                </a:solidFill>
                <a:latin typeface="Cambria"/>
              </a:rPr>
              <a:t>Аренда автомобилей в Дубае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9776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0">
                <a:solidFill>
                  <a:srgbClr val="8FA8C0"/>
                </a:solidFill>
                <a:latin typeface="Calibri"/>
              </a:rPr>
              <a:t>Сезонный спрос · влияние на бизнес · ключевые моменты запуска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C86A3"/>
                </a:solidFill>
                <a:latin typeface="Calibri"/>
              </a:rPr>
              <a:t>По данным отраслевых обзоров и RTA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СУТЬ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Резюме — ключевые выводы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Растущий рынок. </a:t>
            </a:r>
            <a:r>
              <a:rPr sz="1500">
                <a:solidFill>
                  <a:srgbClr val="202A36"/>
                </a:solidFill>
                <a:latin typeface="Calibri"/>
              </a:rPr>
              <a:t>ОАЭ — 2,2 млрд AED в 2025 (+11,8% г/г), Дубай даёт 55%+ выручки, прогноз $6,7 млрд к 2035.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Сильная сезонность. </a:t>
            </a:r>
            <a:r>
              <a:rPr sz="1500">
                <a:solidFill>
                  <a:srgbClr val="202A36"/>
                </a:solidFill>
                <a:latin typeface="Calibri"/>
              </a:rPr>
              <a:t>Пик спроса с ноября по февраль, спад с июня по сентябрь.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Неравномерный поток. </a:t>
            </a:r>
            <a:r>
              <a:rPr sz="1500">
                <a:solidFill>
                  <a:srgbClr val="202A36"/>
                </a:solidFill>
                <a:latin typeface="Calibri"/>
              </a:rPr>
              <a:t>Зимой высокая загрузка, летом — простой флота и демпинг.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Вход доступен. </a:t>
            </a:r>
            <a:r>
              <a:rPr sz="1500">
                <a:solidFill>
                  <a:srgbClr val="202A36"/>
                </a:solidFill>
                <a:latin typeface="Calibri"/>
              </a:rPr>
              <a:t>Лицензия + RTA + флот от 25–50 тыс. AED в первый год.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Ключ к прибыли. </a:t>
            </a:r>
            <a:r>
              <a:rPr sz="1500">
                <a:solidFill>
                  <a:srgbClr val="202A36"/>
                </a:solidFill>
                <a:latin typeface="Calibri"/>
              </a:rPr>
              <a:t>Месячная аренда и корпоративные контракты сглаживают сезон.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82880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20574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4CE8A"/>
                </a:solidFill>
                <a:latin typeface="Cambria"/>
              </a:rPr>
              <a:t>2,2 млрд AED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2461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объём рынка ОАЭ в 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ОБЗОР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Рынок в цифрах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83080"/>
            <a:ext cx="3291840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947672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mbria"/>
              </a:rPr>
              <a:t>2,2 млрд AED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7919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A6472"/>
                </a:solidFill>
                <a:latin typeface="Calibri"/>
              </a:rPr>
              <a:t>объём рынка ОАЭ, 2025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783080"/>
            <a:ext cx="3291840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947672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mbria"/>
              </a:rPr>
              <a:t>+11,8%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67919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A6472"/>
                </a:solidFill>
                <a:latin typeface="Calibri"/>
              </a:rPr>
              <a:t>рост год к году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783080"/>
            <a:ext cx="3291840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01000" y="1947672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mbria"/>
              </a:rPr>
              <a:t>55%+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679192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A6472"/>
                </a:solidFill>
                <a:latin typeface="Calibri"/>
              </a:rPr>
              <a:t>доля Дубая в выручке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977639"/>
            <a:ext cx="3291840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42231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mbria"/>
              </a:rPr>
              <a:t>$6,7 млрд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73751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A6472"/>
                </a:solidFill>
                <a:latin typeface="Calibri"/>
              </a:rPr>
              <a:t>прогноз к 2035 (CAGR ~10%)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06240" y="3977639"/>
            <a:ext cx="3291840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4142231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mbria"/>
              </a:rPr>
              <a:t>71 040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873751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A6472"/>
                </a:solidFill>
                <a:latin typeface="Calibri"/>
              </a:rPr>
              <a:t>авто во флоте Дубая (+43% за год)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0" y="3977639"/>
            <a:ext cx="3291840" cy="1874519"/>
          </a:xfrm>
          <a:prstGeom prst="roundRect">
            <a:avLst>
              <a:gd name="adj" fmla="val 8000"/>
            </a:avLst>
          </a:prstGeom>
          <a:solidFill>
            <a:srgbClr val="F1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01000" y="4142231"/>
            <a:ext cx="28346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0F2A43"/>
                </a:solidFill>
                <a:latin typeface="Cambria"/>
              </a:rPr>
              <a:t>3 494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4873751"/>
            <a:ext cx="28346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A6472"/>
                </a:solidFill>
                <a:latin typeface="Calibri"/>
              </a:rPr>
              <a:t>прокатные компании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9A227"/>
                </a:solidFill>
                <a:latin typeface="Calibri"/>
              </a:rPr>
              <a:t>РАЗДЕЛ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Сезонность спроса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8FA8C0"/>
                </a:solidFill>
                <a:latin typeface="Calibri"/>
              </a:rPr>
              <a:t>Почему зимой бронируют всё, а летом рынок замирает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C86A3"/>
                </a:solidFill>
                <a:latin typeface="Calibri"/>
              </a:rPr>
              <a:t>Аренда автомобилей в Дубае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СЕЗОННОСТЬ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Сезонный календарь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83080"/>
          <a:ext cx="1097280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828800"/>
                <a:gridCol w="1463040"/>
                <a:gridCol w="2834640"/>
                <a:gridCol w="2377440"/>
              </a:tblGrid>
              <a:tr h="768096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Период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Сезон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Погода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Спрос / туристы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Цены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A36"/>
                          </a:solidFill>
                          <a:latin typeface="Calibri"/>
                        </a:rPr>
                        <a:t>Ноябрь – февраль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Высокий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20–28°C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Пик (1,5+ млн/мес)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Максимум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A36"/>
                          </a:solidFill>
                          <a:latin typeface="Calibri"/>
                        </a:rPr>
                        <a:t>25 дек – 5 янв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Пиковый (НГ)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18–26°C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Абсолютный пик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Самый дорогой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A36"/>
                          </a:solidFill>
                          <a:latin typeface="Calibri"/>
                        </a:rPr>
                        <a:t>Октябрь, апр–май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Плечевой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28–35°C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Умеренный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−15–30%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A36"/>
                          </a:solidFill>
                          <a:latin typeface="Calibri"/>
                        </a:rPr>
                        <a:t>Июнь – сентябрь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Низкий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40°C+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Минимум (~1 млн/мес)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−40–50%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ДИНАМИКА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Спрос повторяет туристический поток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188720" y="1828800"/>
          <a:ext cx="97840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ПИК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Высокий сезон (ноябрь – февраль)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Погода. </a:t>
            </a:r>
            <a:r>
              <a:rPr sz="1500">
                <a:solidFill>
                  <a:srgbClr val="202A36"/>
                </a:solidFill>
                <a:latin typeface="Calibri"/>
              </a:rPr>
              <a:t>20–28°C, низкая влажность — идеально для поездок.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Спрос. </a:t>
            </a:r>
            <a:r>
              <a:rPr sz="1500">
                <a:solidFill>
                  <a:srgbClr val="202A36"/>
                </a:solidFill>
                <a:latin typeface="Calibri"/>
              </a:rPr>
              <a:t>Более 1,5 млн посетителей в месяц; рост из России, Индии, Европы.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Загрузка. </a:t>
            </a:r>
            <a:r>
              <a:rPr sz="1500">
                <a:solidFill>
                  <a:srgbClr val="202A36"/>
                </a:solidFill>
                <a:latin typeface="Calibri"/>
              </a:rPr>
              <a:t>Популярные модели бронируют заранее, дефицит в пик.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Цены. </a:t>
            </a:r>
            <a:r>
              <a:rPr sz="1500">
                <a:solidFill>
                  <a:srgbClr val="202A36"/>
                </a:solidFill>
                <a:latin typeface="Calibri"/>
              </a:rPr>
              <a:t>На максимуме, пик — Новый год.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Плюс. </a:t>
            </a:r>
            <a:r>
              <a:rPr sz="1500">
                <a:solidFill>
                  <a:srgbClr val="202A36"/>
                </a:solidFill>
                <a:latin typeface="Calibri"/>
              </a:rPr>
              <a:t>Широкий выбор новых и премиум авто.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Минус. </a:t>
            </a:r>
            <a:r>
              <a:rPr sz="1500">
                <a:solidFill>
                  <a:srgbClr val="202A36"/>
                </a:solidFill>
                <a:latin typeface="Calibri"/>
              </a:rPr>
              <a:t>Высокие тарифы, пробки, парковка.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82880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20574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4CE8A"/>
                </a:solidFill>
                <a:latin typeface="Cambria"/>
              </a:rPr>
              <a:t>1,5 млн+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2461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туристов в месяц в высокий сезон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СПАД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Низкий сезон (июнь – сентябрь)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Жара. </a:t>
            </a:r>
            <a:r>
              <a:rPr sz="1500">
                <a:solidFill>
                  <a:srgbClr val="202A36"/>
                </a:solidFill>
                <a:latin typeface="Calibri"/>
              </a:rPr>
              <a:t>Выше 40°C и высокая влажность отпугивают туристов.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Спрос. </a:t>
            </a:r>
            <a:r>
              <a:rPr sz="1500">
                <a:solidFill>
                  <a:srgbClr val="202A36"/>
                </a:solidFill>
                <a:latin typeface="Calibri"/>
              </a:rPr>
              <a:t>Резко падает, поток снижается до ~1 млн в месяц.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Цены. </a:t>
            </a:r>
            <a:r>
              <a:rPr sz="1500">
                <a:solidFill>
                  <a:srgbClr val="202A36"/>
                </a:solidFill>
                <a:latin typeface="Calibri"/>
              </a:rPr>
              <a:t>Минимальны: скидки, апгрейды, страховка в подарок.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Для клиента. </a:t>
            </a:r>
            <a:r>
              <a:rPr sz="1500">
                <a:solidFill>
                  <a:srgbClr val="202A36"/>
                </a:solidFill>
                <a:latin typeface="Calibri"/>
              </a:rPr>
              <a:t>Лучшая цена года, включая премиум.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Для бизнеса. </a:t>
            </a:r>
            <a:r>
              <a:rPr sz="1500">
                <a:solidFill>
                  <a:srgbClr val="202A36"/>
                </a:solidFill>
                <a:latin typeface="Calibri"/>
              </a:rPr>
              <a:t>Простой флота и демпинг — главный риск.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Возможность. </a:t>
            </a:r>
            <a:r>
              <a:rPr sz="1500">
                <a:solidFill>
                  <a:srgbClr val="202A36"/>
                </a:solidFill>
                <a:latin typeface="Calibri"/>
              </a:rPr>
              <a:t>Окно для ТО, ремонта и обновления флота.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82880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20574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4CE8A"/>
                </a:solidFill>
                <a:latin typeface="Cambria"/>
              </a:rPr>
              <a:t>−40–50%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2461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падение цен на аренду летом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ДРАЙВЕРЫ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События, дающие локальные пики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Dubai Shopping Festival </a:t>
            </a:r>
            <a:r>
              <a:rPr sz="1500">
                <a:solidFill>
                  <a:srgbClr val="202A36"/>
                </a:solidFill>
                <a:latin typeface="Calibri"/>
              </a:rPr>
              <a:t>(декабрь–январь) — массовый наплыв покупателей.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Новый год (31 дек). </a:t>
            </a:r>
            <a:r>
              <a:rPr sz="1500">
                <a:solidFill>
                  <a:srgbClr val="202A36"/>
                </a:solidFill>
                <a:latin typeface="Calibri"/>
              </a:rPr>
              <a:t>Абсолютный пик года.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Eid аль-Фитр и аль-Адха. </a:t>
            </a:r>
            <a:r>
              <a:rPr sz="1500">
                <a:solidFill>
                  <a:srgbClr val="202A36"/>
                </a:solidFill>
                <a:latin typeface="Calibri"/>
              </a:rPr>
              <a:t>Поток из стран региона.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GITEX (октябрь). </a:t>
            </a:r>
            <a:r>
              <a:rPr sz="1500">
                <a:solidFill>
                  <a:srgbClr val="202A36"/>
                </a:solidFill>
                <a:latin typeface="Calibri"/>
              </a:rPr>
              <a:t>Деловые путешественники, уходят премиум-модели.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Dubai World Cup (март). </a:t>
            </a:r>
            <a:r>
              <a:rPr sz="1500">
                <a:solidFill>
                  <a:srgbClr val="202A36"/>
                </a:solidFill>
                <a:latin typeface="Calibri"/>
              </a:rPr>
              <a:t>Локальный всплеск.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Рамадан. </a:t>
            </a:r>
            <a:r>
              <a:rPr sz="1500">
                <a:solidFill>
                  <a:srgbClr val="202A36"/>
                </a:solidFill>
                <a:latin typeface="Calibri"/>
              </a:rPr>
              <a:t>Сдвигает паттерны спроса весной.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82880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20574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4CE8A"/>
                </a:solidFill>
                <a:latin typeface="Cambria"/>
              </a:rPr>
              <a:t>31 декабря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2461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абсолютный пик спроса в году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9A227"/>
                </a:solidFill>
                <a:latin typeface="Calibri"/>
              </a:rPr>
              <a:t>РАЗДЕЛ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Влияние на бизнес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8FA8C0"/>
                </a:solidFill>
                <a:latin typeface="Calibri"/>
              </a:rPr>
              <a:t>Что сезонность делает с выручкой, флотом и денежным потоком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C86A3"/>
                </a:solidFill>
                <a:latin typeface="Calibri"/>
              </a:rPr>
              <a:t>Аренда автомобилей в Дубае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ЭКОНОМИКА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Как сезонность влияет на бизнес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Выручка. </a:t>
            </a:r>
            <a:r>
              <a:rPr sz="1500">
                <a:solidFill>
                  <a:srgbClr val="202A36"/>
                </a:solidFill>
                <a:latin typeface="Calibri"/>
              </a:rPr>
              <a:t>Зимой кратно выше, летом проседает в разы.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Загрузка. </a:t>
            </a:r>
            <a:r>
              <a:rPr sz="1500">
                <a:solidFill>
                  <a:srgbClr val="202A36"/>
                </a:solidFill>
                <a:latin typeface="Calibri"/>
              </a:rPr>
              <a:t>Зимой 80–90%+, летом низкая — простой это затраты.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Цены. </a:t>
            </a:r>
            <a:r>
              <a:rPr sz="1500">
                <a:solidFill>
                  <a:srgbClr val="202A36"/>
                </a:solidFill>
                <a:latin typeface="Calibri"/>
              </a:rPr>
              <a:t>Зимой премиум, летом демпинг.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Денежный поток. </a:t>
            </a:r>
            <a:r>
              <a:rPr sz="1500">
                <a:solidFill>
                  <a:srgbClr val="202A36"/>
                </a:solidFill>
                <a:latin typeface="Calibri"/>
              </a:rPr>
              <a:t>Нужна подушка на лето и лизинг флота.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Операции. </a:t>
            </a:r>
            <a:r>
              <a:rPr sz="1500">
                <a:solidFill>
                  <a:srgbClr val="202A36"/>
                </a:solidFill>
                <a:latin typeface="Calibri"/>
              </a:rPr>
              <a:t>Лето — окно для ТО и обновления парка.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Главный риск. </a:t>
            </a:r>
            <a:r>
              <a:rPr sz="1500">
                <a:solidFill>
                  <a:srgbClr val="202A36"/>
                </a:solidFill>
                <a:latin typeface="Calibri"/>
              </a:rPr>
              <a:t>Переоценить зимний спрос и закупить лишний флот.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82880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20574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4CE8A"/>
                </a:solidFill>
                <a:latin typeface="Cambria"/>
              </a:rPr>
              <a:t>80–90%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2461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загрузка флота зимой против простоев летом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9A227"/>
                </a:solidFill>
                <a:latin typeface="Calibri"/>
              </a:rPr>
              <a:t>РАЗДЕЛ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Запуск бизнеса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8FA8C0"/>
                </a:solidFill>
                <a:latin typeface="Calibri"/>
              </a:rPr>
              <a:t>Лицензии, требования RTA и затраты первого года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C86A3"/>
                </a:solidFill>
                <a:latin typeface="Calibri"/>
              </a:rPr>
              <a:t>Аренда автомобилей в Дубае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РЕГУЛИРОВАНИЕ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Лицензирование и требования 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6858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Лицензия DET </a:t>
            </a:r>
            <a:r>
              <a:rPr sz="1500">
                <a:solidFill>
                  <a:srgbClr val="202A36"/>
                </a:solidFill>
                <a:latin typeface="Calibri"/>
              </a:rPr>
              <a:t>с кодом активности 6820 + разрешение RTA на флот.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Минимальный флот. </a:t>
            </a:r>
            <a:r>
              <a:rPr sz="1500">
                <a:solidFill>
                  <a:srgbClr val="202A36"/>
                </a:solidFill>
                <a:latin typeface="Calibri"/>
              </a:rPr>
              <a:t>5–10 зарегистрированных авто.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Страховка. </a:t>
            </a:r>
            <a:r>
              <a:rPr sz="1500">
                <a:solidFill>
                  <a:srgbClr val="202A36"/>
                </a:solidFill>
                <a:latin typeface="Calibri"/>
              </a:rPr>
              <a:t>Полное КАСКО на каждое авто.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Регистрация. </a:t>
            </a:r>
            <a:r>
              <a:rPr sz="1500">
                <a:solidFill>
                  <a:srgbClr val="202A36"/>
                </a:solidFill>
                <a:latin typeface="Calibri"/>
              </a:rPr>
              <a:t>Действующая mulkiya и техосмотр RTA.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Salik. </a:t>
            </a:r>
            <a:r>
              <a:rPr sz="1500">
                <a:solidFill>
                  <a:srgbClr val="202A36"/>
                </a:solidFill>
                <a:latin typeface="Calibri"/>
              </a:rPr>
              <a:t>Единый счёт на флот + депозит под штрафы 5–10 тыс. AED.</a:t>
            </a:r>
          </a:p>
          <a:p>
            <a:pPr marL="219456" indent="-219456">
              <a:spcAft>
                <a:spcPts val="800"/>
              </a:spcAft>
              <a:buClr>
                <a:srgbClr val="5A6472"/>
              </a:buClr>
              <a:buFont typeface="Arial"/>
              <a:buChar char="•"/>
            </a:pPr>
            <a:r>
              <a:rPr sz="1500" b="1">
                <a:solidFill>
                  <a:srgbClr val="0F2A43"/>
                </a:solidFill>
                <a:latin typeface="Calibri"/>
              </a:rPr>
              <a:t>Free zone. </a:t>
            </a:r>
            <a:r>
              <a:rPr sz="1500">
                <a:solidFill>
                  <a:srgbClr val="202A36"/>
                </a:solidFill>
                <a:latin typeface="Calibri"/>
              </a:rPr>
              <a:t>100% иностранное владение, быстрее и дешевле.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1828800"/>
            <a:ext cx="3566160" cy="237744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83879" y="2057400"/>
            <a:ext cx="3200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E4CE8A"/>
                </a:solidFill>
                <a:latin typeface="Cambria"/>
              </a:rPr>
              <a:t>5–10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83879" y="3246120"/>
            <a:ext cx="3200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  <a:latin typeface="Calibri"/>
              </a:rPr>
              <a:t>автомобилей — минимальный стартовый флот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БЮДЖЕТ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Затраты на запуск — первый год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737360"/>
          <a:ext cx="109728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/>
                <a:gridCol w="2926080"/>
                <a:gridCol w="2011680"/>
              </a:tblGrid>
              <a:tr h="50292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Статья затрат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Диапазон (AED)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Орган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A36"/>
                          </a:solidFill>
                          <a:latin typeface="Calibri"/>
                        </a:rPr>
                        <a:t>Торговая лицензия (год)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3 000 – 8 000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DET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A36"/>
                          </a:solidFill>
                          <a:latin typeface="Calibri"/>
                        </a:rPr>
                        <a:t>RTA разрешение на аренду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1 500 – 3 500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RTA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A36"/>
                          </a:solidFill>
                          <a:latin typeface="Calibri"/>
                        </a:rPr>
                        <a:t>Регистрация авто (5–10 шт)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8 000 – 15 000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RTA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A36"/>
                          </a:solidFill>
                          <a:latin typeface="Calibri"/>
                        </a:rPr>
                        <a:t>Страховка флота КАСКО (год)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5 000 – 12 000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Страховщик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A36"/>
                          </a:solidFill>
                          <a:latin typeface="Calibri"/>
                        </a:rPr>
                        <a:t>Salik + депозит под штрафы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2 000 – 5 000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RTA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202A36"/>
                          </a:solidFill>
                          <a:latin typeface="Calibri"/>
                        </a:rPr>
                        <a:t>Код активности DET (разово)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500 – 1 500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>
                          <a:solidFill>
                            <a:srgbClr val="202A36"/>
                          </a:solidFill>
                          <a:latin typeface="Calibri"/>
                        </a:rPr>
                        <a:t>DET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ИТОГО первый год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25 000 – 50 000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0F2A43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>
                    <a:solidFill>
                      <a:srgbClr val="F1F4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1">
                <a:solidFill>
                  <a:srgbClr val="5A6472"/>
                </a:solidFill>
                <a:latin typeface="Calibri"/>
              </a:rPr>
              <a:t>Во free zone лицензия стартует от ~12 500 AED. Со второго года — продление лицензии, страховка и обслуживание.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144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i="0">
                <a:solidFill>
                  <a:srgbClr val="C9A227"/>
                </a:solidFill>
                <a:latin typeface="Calibri"/>
              </a:rPr>
              <a:t>РАЗДЕЛ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mbria"/>
              </a:rPr>
              <a:t>Рекомендации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2044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8FA8C0"/>
                </a:solidFill>
                <a:latin typeface="Calibri"/>
              </a:rPr>
              <a:t>Как выжать максимум из сезонного рынка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26364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C86A3"/>
                </a:solidFill>
                <a:latin typeface="Calibri"/>
              </a:rPr>
              <a:t>Аренда автомобилей в Дубае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9A227"/>
                </a:solidFill>
                <a:latin typeface="Calibri"/>
              </a:rPr>
              <a:t>ПЛАН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1097280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0F2A43"/>
                </a:solidFill>
                <a:latin typeface="Cambria"/>
              </a:rPr>
              <a:t>Семь шагов к устойчивой модели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655064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3"/>
                </a:solidFill>
                <a:latin typeface="Calibri"/>
              </a:rPr>
              <a:t>Диверсифицируйте спрос. </a:t>
            </a:r>
            <a:r>
              <a:rPr sz="1400">
                <a:solidFill>
                  <a:srgbClr val="202A36"/>
                </a:solidFill>
                <a:latin typeface="Calibri"/>
              </a:rPr>
              <a:t>Месячная аренда (45% рынка) и корпоративные контракты.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40864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235000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3"/>
                </a:solidFill>
                <a:latin typeface="Calibri"/>
              </a:rPr>
              <a:t>Динамическое ценообразование. </a:t>
            </a:r>
            <a:r>
              <a:rPr sz="1400">
                <a:solidFill>
                  <a:srgbClr val="202A36"/>
                </a:solidFill>
                <a:latin typeface="Calibri"/>
              </a:rPr>
              <a:t>Премиум зимой, ранние брони, летние спецпредложения.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35808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3044952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3"/>
                </a:solidFill>
                <a:latin typeface="Calibri"/>
              </a:rPr>
              <a:t>Используйте лето. </a:t>
            </a:r>
            <a:r>
              <a:rPr sz="1400">
                <a:solidFill>
                  <a:srgbClr val="202A36"/>
                </a:solidFill>
                <a:latin typeface="Calibri"/>
              </a:rPr>
              <a:t>Длинные контракты, ТО и обновление флота вместо простоя.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730752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739896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3"/>
                </a:solidFill>
                <a:latin typeface="Calibri"/>
              </a:rPr>
              <a:t>Стартуйте вовремя. </a:t>
            </a:r>
            <a:r>
              <a:rPr sz="1400">
                <a:solidFill>
                  <a:srgbClr val="202A36"/>
                </a:solidFill>
                <a:latin typeface="Calibri"/>
              </a:rPr>
              <a:t>Сентябрь–октябрь — успеть поймать зимний пик.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25696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4434840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3"/>
                </a:solidFill>
                <a:latin typeface="Calibri"/>
              </a:rPr>
              <a:t>Считайте простой. </a:t>
            </a:r>
            <a:r>
              <a:rPr sz="1400">
                <a:solidFill>
                  <a:srgbClr val="202A36"/>
                </a:solidFill>
                <a:latin typeface="Calibri"/>
              </a:rPr>
              <a:t>Юнит-экономика и подушка ликвидности на лето.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120640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5129784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3"/>
                </a:solidFill>
                <a:latin typeface="Calibri"/>
              </a:rPr>
              <a:t>Растущие ниши. </a:t>
            </a:r>
            <a:r>
              <a:rPr sz="1400">
                <a:solidFill>
                  <a:srgbClr val="202A36"/>
                </a:solidFill>
                <a:latin typeface="Calibri"/>
              </a:rPr>
              <a:t>Премиум (+73%) и электромобили (+50%).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15584"/>
            <a:ext cx="640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i="0">
                <a:solidFill>
                  <a:srgbClr val="C9A227"/>
                </a:solidFill>
                <a:latin typeface="Cambria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582472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F2A43"/>
                </a:solidFill>
                <a:latin typeface="Calibri"/>
              </a:rPr>
              <a:t>Каналы продаж. </a:t>
            </a:r>
            <a:r>
              <a:rPr sz="1400">
                <a:solidFill>
                  <a:srgbClr val="202A36"/>
                </a:solidFill>
                <a:latin typeface="Calibri"/>
              </a:rPr>
              <a:t>Агрегаторы + собственный сайт для прямых броней.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6446520"/>
            <a:ext cx="457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 i="0">
                <a:solidFill>
                  <a:srgbClr val="5A6472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mbria"/>
              </a:rPr>
              <a:t>Рынок растёт. Спрос сезонный. Возможности есть.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033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 i="0">
                <a:solidFill>
                  <a:srgbClr val="8FA8C0"/>
                </a:solidFill>
                <a:latin typeface="Calibri"/>
              </a:rPr>
              <a:t>Грамотное управление флотом и ценами под сезон превращает сезонность из риска в преимущество.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1264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6C86A3"/>
                </a:solidFill>
                <a:latin typeface="Calibri"/>
              </a:rPr>
              <a:t>Аренда автомобилей в Дубае · анализ рынка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